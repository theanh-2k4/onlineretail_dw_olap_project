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irnFHyVnwFom0tGLfXeciijClS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5" name="Google Shape;135;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36" name="Google Shape;136;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9" name="Google Shape;139;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1" name="Google Shape;15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52" name="Google Shape;152;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5" name="Google Shape;15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9" name="Google Shape;179;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0" name="Google Shape;180;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3" name="Google Shape;183;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7" name="Google Shape;207;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8" name="Google Shape;208;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1" name="Google Shape;211;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4" name="Google Shape;224;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5" name="Google Shape;225;p1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8" name="Google Shape;228;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3" name="Google Shape;243;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44" name="Google Shape;244;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7" name="Google Shape;247;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0" name="Google Shape;260;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1" name="Google Shape;261;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4" name="Google Shape;264;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57c03b4b2_0_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7" name="Google Shape;277;g3d57c03b4b2_0_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78" name="Google Shape;278;g3d57c03b4b2_0_4: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d57c03b4b2_0_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d57c03b4b2_0_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1" name="Google Shape;281;g3d57c03b4b2_0_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57c03b4b2_0_22:notes"/>
          <p:cNvSpPr/>
          <p:nvPr>
            <p:ph idx="2"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d57c03b4b2_0_2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d57c03b4b2_0_2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57c03b4b2_0_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6" name="Google Shape;306;g3d57c03b4b2_0_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07" name="Google Shape;307;g3d57c03b4b2_0_34: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d57c03b4b2_0_3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d57c03b4b2_0_3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0" name="Google Shape;310;g3d57c03b4b2_0_3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57c03b4b2_0_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3" name="Google Shape;323;g3d57c03b4b2_0_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4" name="Google Shape;324;g3d57c03b4b2_0_54: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d57c03b4b2_0_5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d57c03b4b2_0_5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7" name="Google Shape;327;g3d57c03b4b2_0_5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57c03b4b2_0_7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1" name="Google Shape;341;g3d57c03b4b2_0_7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2" name="Google Shape;342;g3d57c03b4b2_0_77: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d57c03b4b2_0_7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3d57c03b4b2_0_77: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5" name="Google Shape;345;g3d57c03b4b2_0_77: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57c03b4b2_0_9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8" name="Google Shape;358;g3d57c03b4b2_0_9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59" name="Google Shape;359;g3d57c03b4b2_0_97: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d57c03b4b2_0_9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d57c03b4b2_0_97: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2" name="Google Shape;362;g3d57c03b4b2_0_97: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57c03b4b2_0_116:notes"/>
          <p:cNvSpPr/>
          <p:nvPr>
            <p:ph idx="2"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d57c03b4b2_0_11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d57c03b4b2_0_11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57c03b4b2_0_1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7" name="Google Shape;387;g3d57c03b4b2_0_1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88" name="Google Shape;388;g3d57c03b4b2_0_128: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57c03b4b2_0_12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p:txBody>
      </p:sp>
      <p:sp>
        <p:nvSpPr>
          <p:cNvPr id="390" name="Google Shape;390;g3d57c03b4b2_0_12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1" name="Google Shape;391;g3d57c03b4b2_0_12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57c03b4b2_0_1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04" name="Google Shape;404;g3d57c03b4b2_0_1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05" name="Google Shape;405;g3d57c03b4b2_0_154: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3d57c03b4b2_0_15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t/>
            </a:r>
            <a:endParaRPr/>
          </a:p>
        </p:txBody>
      </p:sp>
      <p:sp>
        <p:nvSpPr>
          <p:cNvPr id="407" name="Google Shape;407;g3d57c03b4b2_0_15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08" name="Google Shape;408;g3d57c03b4b2_0_15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87" name="Shape 87"/>
        <p:cNvGrpSpPr/>
        <p:nvPr/>
      </p:nvGrpSpPr>
      <p:grpSpPr>
        <a:xfrm>
          <a:off x="0" y="0"/>
          <a:ext cx="0" cy="0"/>
          <a:chOff x="0" y="0"/>
          <a:chExt cx="0" cy="0"/>
        </a:xfrm>
      </p:grpSpPr>
      <p:sp>
        <p:nvSpPr>
          <p:cNvPr id="88" name="Google Shape;88;p1"/>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1"/>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txBox="1"/>
          <p:nvPr/>
        </p:nvSpPr>
        <p:spPr>
          <a:xfrm>
            <a:off x="2234970" y="1419290"/>
            <a:ext cx="14377800" cy="4094100"/>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1" lang="en-US" sz="7000">
                <a:solidFill>
                  <a:schemeClr val="dk1"/>
                </a:solidFill>
                <a:latin typeface="Times New Roman"/>
                <a:ea typeface="Times New Roman"/>
                <a:cs typeface="Times New Roman"/>
                <a:sym typeface="Times New Roman"/>
              </a:rPr>
              <a:t>PHÂN TÍCH DOANH SỐ BÁN LẺ VỚI BỘ DỮ LIỆU ONLINE RETAIL II</a:t>
            </a:r>
            <a:endParaRPr b="1" sz="7000">
              <a:solidFill>
                <a:srgbClr val="0C3571"/>
              </a:solidFill>
              <a:latin typeface="Times New Roman"/>
              <a:ea typeface="Times New Roman"/>
              <a:cs typeface="Times New Roman"/>
              <a:sym typeface="Times New Roman"/>
            </a:endParaRPr>
          </a:p>
        </p:txBody>
      </p:sp>
      <p:sp>
        <p:nvSpPr>
          <p:cNvPr id="95" name="Google Shape;95;p1"/>
          <p:cNvSpPr txBox="1"/>
          <p:nvPr/>
        </p:nvSpPr>
        <p:spPr>
          <a:xfrm>
            <a:off x="4882950" y="5513401"/>
            <a:ext cx="85221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US" sz="3999">
                <a:solidFill>
                  <a:srgbClr val="0C3571"/>
                </a:solidFill>
                <a:latin typeface="Times New Roman"/>
                <a:ea typeface="Times New Roman"/>
                <a:cs typeface="Times New Roman"/>
                <a:sym typeface="Times New Roman"/>
              </a:rPr>
              <a:t>GVHD: ThS. Trần Thị Dung</a:t>
            </a:r>
            <a:endParaRPr sz="3999">
              <a:solidFill>
                <a:srgbClr val="0C3571"/>
              </a:solidFill>
              <a:latin typeface="Times New Roman"/>
              <a:ea typeface="Times New Roman"/>
              <a:cs typeface="Times New Roman"/>
              <a:sym typeface="Times New Roman"/>
            </a:endParaRPr>
          </a:p>
        </p:txBody>
      </p:sp>
      <p:sp>
        <p:nvSpPr>
          <p:cNvPr id="96" name="Google Shape;96;p1"/>
          <p:cNvSpPr txBox="1"/>
          <p:nvPr/>
        </p:nvSpPr>
        <p:spPr>
          <a:xfrm>
            <a:off x="6203242" y="6270584"/>
            <a:ext cx="7059600" cy="1754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a:solidFill>
                  <a:srgbClr val="0C3571"/>
                </a:solidFill>
                <a:latin typeface="Times New Roman"/>
                <a:ea typeface="Times New Roman"/>
                <a:cs typeface="Times New Roman"/>
                <a:sym typeface="Times New Roman"/>
              </a:rPr>
              <a:t>2286400002 – HÀ THẾ ANH </a:t>
            </a:r>
            <a:endParaRPr/>
          </a:p>
          <a:p>
            <a:pPr indent="0" lvl="0" marL="0" marR="0" rtl="0" algn="l">
              <a:lnSpc>
                <a:spcPct val="140000"/>
              </a:lnSpc>
              <a:spcBef>
                <a:spcPts val="0"/>
              </a:spcBef>
              <a:spcAft>
                <a:spcPts val="0"/>
              </a:spcAft>
              <a:buNone/>
            </a:pPr>
            <a:r>
              <a:rPr lang="en-US" sz="3000">
                <a:solidFill>
                  <a:srgbClr val="0C3571"/>
                </a:solidFill>
                <a:latin typeface="Times New Roman"/>
                <a:ea typeface="Times New Roman"/>
                <a:cs typeface="Times New Roman"/>
                <a:sym typeface="Times New Roman"/>
              </a:rPr>
              <a:t>2286400017  – HOÀNG QUANG MINH </a:t>
            </a:r>
            <a:endParaRPr/>
          </a:p>
          <a:p>
            <a:pPr indent="0" lvl="0" marL="0" marR="0" rtl="0" algn="l">
              <a:lnSpc>
                <a:spcPct val="140000"/>
              </a:lnSpc>
              <a:spcBef>
                <a:spcPts val="0"/>
              </a:spcBef>
              <a:spcAft>
                <a:spcPts val="0"/>
              </a:spcAft>
              <a:buNone/>
            </a:pPr>
            <a:r>
              <a:rPr lang="en-US" sz="3000">
                <a:solidFill>
                  <a:srgbClr val="0C3571"/>
                </a:solidFill>
                <a:latin typeface="Times New Roman"/>
                <a:ea typeface="Times New Roman"/>
                <a:cs typeface="Times New Roman"/>
                <a:sym typeface="Times New Roman"/>
              </a:rPr>
              <a:t>2286400019  – NGUYỄN NHẬT NAM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00" name="Shape 100"/>
        <p:cNvGrpSpPr/>
        <p:nvPr/>
      </p:nvGrpSpPr>
      <p:grpSpPr>
        <a:xfrm>
          <a:off x="0" y="0"/>
          <a:ext cx="0" cy="0"/>
          <a:chOff x="0" y="0"/>
          <a:chExt cx="0" cy="0"/>
        </a:xfrm>
      </p:grpSpPr>
      <p:sp>
        <p:nvSpPr>
          <p:cNvPr id="101" name="Google Shape;101;p2"/>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2"/>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2"/>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2"/>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2"/>
          <p:cNvSpPr txBox="1"/>
          <p:nvPr/>
        </p:nvSpPr>
        <p:spPr>
          <a:xfrm>
            <a:off x="3829726" y="1676154"/>
            <a:ext cx="10890353" cy="1152944"/>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lang="en-US" sz="6999">
                <a:solidFill>
                  <a:srgbClr val="0C3571"/>
                </a:solidFill>
                <a:latin typeface="Times New Roman"/>
                <a:ea typeface="Times New Roman"/>
                <a:cs typeface="Times New Roman"/>
                <a:sym typeface="Times New Roman"/>
              </a:rPr>
              <a:t>MỤC TIÊU ĐỀ TÀI</a:t>
            </a:r>
            <a:endParaRPr/>
          </a:p>
        </p:txBody>
      </p:sp>
      <p:sp>
        <p:nvSpPr>
          <p:cNvPr id="108" name="Google Shape;108;p2"/>
          <p:cNvSpPr txBox="1"/>
          <p:nvPr/>
        </p:nvSpPr>
        <p:spPr>
          <a:xfrm>
            <a:off x="2726464" y="2906805"/>
            <a:ext cx="13096875" cy="6771084"/>
          </a:xfrm>
          <a:prstGeom prst="rect">
            <a:avLst/>
          </a:prstGeom>
          <a:noFill/>
          <a:ln>
            <a:noFill/>
          </a:ln>
        </p:spPr>
        <p:txBody>
          <a:bodyPr anchorCtr="0" anchor="t" bIns="0" lIns="0" spcFirstLastPara="1" rIns="0" wrap="square" tIns="0">
            <a:spAutoFit/>
          </a:bodyPr>
          <a:lstStyle/>
          <a:p>
            <a:pPr indent="-367029" lvl="1" marL="734058"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Xây dựng kho dữ liệu phục vụ phân tích doanh số bán lẻ. </a:t>
            </a:r>
            <a:endParaRPr b="0" i="0" sz="3400" u="none" cap="none" strike="noStrike">
              <a:solidFill>
                <a:schemeClr val="dk1"/>
              </a:solidFill>
              <a:latin typeface="Times New Roman"/>
              <a:ea typeface="Times New Roman"/>
              <a:cs typeface="Times New Roman"/>
              <a:sym typeface="Times New Roman"/>
            </a:endParaRPr>
          </a:p>
          <a:p>
            <a:pPr indent="-367029" lvl="1" marL="734058"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Thiết kế mô hình Data Warehouse từ bộ dữ liệu Online Retail II.</a:t>
            </a:r>
            <a:endParaRPr b="0" i="0" sz="3400" u="none" cap="none" strike="noStrike">
              <a:solidFill>
                <a:schemeClr val="dk1"/>
              </a:solidFill>
              <a:latin typeface="Times New Roman"/>
              <a:ea typeface="Times New Roman"/>
              <a:cs typeface="Times New Roman"/>
              <a:sym typeface="Times New Roman"/>
            </a:endParaRPr>
          </a:p>
          <a:p>
            <a:pPr indent="-367029" lvl="1" marL="734058"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Xây dựng quy trình ETL để nạp dữ liệu tự động vào kho dữ liệu. </a:t>
            </a:r>
            <a:endParaRPr b="0" i="0" sz="3400" u="none" cap="none" strike="noStrike">
              <a:solidFill>
                <a:schemeClr val="dk1"/>
              </a:solidFill>
              <a:latin typeface="Times New Roman"/>
              <a:ea typeface="Times New Roman"/>
              <a:cs typeface="Times New Roman"/>
              <a:sym typeface="Times New Roman"/>
            </a:endParaRPr>
          </a:p>
          <a:p>
            <a:pPr indent="-367029" lvl="1" marL="734058"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Hỗ trợ doanh nghiệp trả lời các câu hỏi: </a:t>
            </a:r>
            <a:endParaRPr b="0" i="0" sz="3400" u="none" cap="none" strike="noStrike">
              <a:solidFill>
                <a:schemeClr val="dk1"/>
              </a:solidFill>
              <a:latin typeface="Times New Roman"/>
              <a:ea typeface="Times New Roman"/>
              <a:cs typeface="Times New Roman"/>
              <a:sym typeface="Times New Roman"/>
            </a:endParaRPr>
          </a:p>
          <a:p>
            <a:pPr indent="-489372" lvl="2" marL="1468116"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Doanh thu theo thời gian </a:t>
            </a:r>
            <a:endParaRPr b="0" i="0" sz="3400" u="none" cap="none" strike="noStrike">
              <a:solidFill>
                <a:schemeClr val="dk1"/>
              </a:solidFill>
              <a:latin typeface="Times New Roman"/>
              <a:ea typeface="Times New Roman"/>
              <a:cs typeface="Times New Roman"/>
              <a:sym typeface="Times New Roman"/>
            </a:endParaRPr>
          </a:p>
          <a:p>
            <a:pPr indent="-489372" lvl="2" marL="1468116"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Quốc gia mang lại doanh thu cao nhất</a:t>
            </a:r>
            <a:endParaRPr b="0" i="0" sz="3400" u="none" cap="none" strike="noStrike">
              <a:solidFill>
                <a:schemeClr val="dk1"/>
              </a:solidFill>
              <a:latin typeface="Times New Roman"/>
              <a:ea typeface="Times New Roman"/>
              <a:cs typeface="Times New Roman"/>
              <a:sym typeface="Times New Roman"/>
            </a:endParaRPr>
          </a:p>
          <a:p>
            <a:pPr indent="-489372" lvl="2" marL="1468116"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Sản phẩm bán chạy</a:t>
            </a:r>
            <a:endParaRPr b="0" i="0" sz="3400" u="none" cap="none" strike="noStrike">
              <a:solidFill>
                <a:schemeClr val="dk1"/>
              </a:solidFill>
              <a:latin typeface="Times New Roman"/>
              <a:ea typeface="Times New Roman"/>
              <a:cs typeface="Times New Roman"/>
              <a:sym typeface="Times New Roman"/>
            </a:endParaRPr>
          </a:p>
          <a:p>
            <a:pPr indent="-489372" lvl="2" marL="1468116"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Khách hàng giá trị cao</a:t>
            </a:r>
            <a:endParaRPr b="0" i="0" sz="3400" u="none" cap="none" strike="noStrike">
              <a:solidFill>
                <a:schemeClr val="dk1"/>
              </a:solidFill>
              <a:latin typeface="Times New Roman"/>
              <a:ea typeface="Times New Roman"/>
              <a:cs typeface="Times New Roman"/>
              <a:sym typeface="Times New Roman"/>
            </a:endParaRPr>
          </a:p>
          <a:p>
            <a:pPr indent="-489372" lvl="2" marL="1468116" marR="0" rtl="0" algn="just">
              <a:lnSpc>
                <a:spcPct val="139970"/>
              </a:lnSpc>
              <a:spcBef>
                <a:spcPts val="0"/>
              </a:spcBef>
              <a:spcAft>
                <a:spcPts val="0"/>
              </a:spcAft>
              <a:buClr>
                <a:schemeClr val="dk1"/>
              </a:buClr>
              <a:buSzPts val="3400"/>
              <a:buFont typeface="Arial"/>
              <a:buChar char="⚬"/>
            </a:pPr>
            <a:r>
              <a:rPr b="0" i="0" lang="en-US" sz="3400" u="none" cap="none" strike="noStrike">
                <a:solidFill>
                  <a:schemeClr val="dk1"/>
                </a:solidFill>
                <a:latin typeface="Times New Roman"/>
                <a:ea typeface="Times New Roman"/>
                <a:cs typeface="Times New Roman"/>
                <a:sym typeface="Times New Roman"/>
              </a:rPr>
              <a:t>Tỷ lệ hoàn trả đơn hàng</a:t>
            </a:r>
            <a:endParaRPr/>
          </a:p>
          <a:p>
            <a:pPr indent="0" lvl="2" marL="978744" marR="0" rtl="0" algn="just">
              <a:lnSpc>
                <a:spcPct val="132194"/>
              </a:lnSpc>
              <a:spcBef>
                <a:spcPts val="0"/>
              </a:spcBef>
              <a:spcAft>
                <a:spcPts val="0"/>
              </a:spcAft>
              <a:buNone/>
            </a:pPr>
            <a:r>
              <a:t/>
            </a:r>
            <a:endParaRPr b="0" i="0" sz="3600" u="none" cap="none" strike="noStrike">
              <a:solidFill>
                <a:schemeClr val="dk1"/>
              </a:solidFill>
              <a:latin typeface="Times New Roman"/>
              <a:ea typeface="Times New Roman"/>
              <a:cs typeface="Times New Roman"/>
              <a:sym typeface="Times New Roman"/>
            </a:endParaRPr>
          </a:p>
          <a:p>
            <a:pPr indent="0" lvl="2" marL="978744" marR="0" rtl="0" algn="just">
              <a:lnSpc>
                <a:spcPct val="140011"/>
              </a:lnSpc>
              <a:spcBef>
                <a:spcPts val="0"/>
              </a:spcBef>
              <a:spcAft>
                <a:spcPts val="0"/>
              </a:spcAft>
              <a:buNone/>
            </a:pPr>
            <a:r>
              <a:t/>
            </a:r>
            <a:endParaRPr b="0" i="0" sz="3399" u="none" cap="none" strike="noStrike">
              <a:solidFill>
                <a:srgbClr val="0C357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12" name="Shape 112"/>
        <p:cNvGrpSpPr/>
        <p:nvPr/>
      </p:nvGrpSpPr>
      <p:grpSpPr>
        <a:xfrm>
          <a:off x="0" y="0"/>
          <a:ext cx="0" cy="0"/>
          <a:chOff x="0" y="0"/>
          <a:chExt cx="0" cy="0"/>
        </a:xfrm>
      </p:grpSpPr>
      <p:sp>
        <p:nvSpPr>
          <p:cNvPr id="113" name="Google Shape;113;p3"/>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3"/>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3"/>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3"/>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3"/>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3"/>
          <p:cNvSpPr txBox="1"/>
          <p:nvPr/>
        </p:nvSpPr>
        <p:spPr>
          <a:xfrm>
            <a:off x="3698823" y="2995797"/>
            <a:ext cx="10890353" cy="3770263"/>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PHẦN 1 – PHÂN TÍCH YÊU CẦU VÀ MÔ HÌNH HÓA DỮ LIỆU</a:t>
            </a:r>
            <a:endParaRPr b="1" sz="6999">
              <a:solidFill>
                <a:srgbClr val="0C357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23" name="Shape 123"/>
        <p:cNvGrpSpPr/>
        <p:nvPr/>
      </p:nvGrpSpPr>
      <p:grpSpPr>
        <a:xfrm>
          <a:off x="0" y="0"/>
          <a:ext cx="0" cy="0"/>
          <a:chOff x="0" y="0"/>
          <a:chExt cx="0" cy="0"/>
        </a:xfrm>
      </p:grpSpPr>
      <p:sp>
        <p:nvSpPr>
          <p:cNvPr id="124" name="Google Shape;124;p4"/>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4"/>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4"/>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4"/>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4"/>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4"/>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4"/>
          <p:cNvSpPr txBox="1"/>
          <p:nvPr/>
        </p:nvSpPr>
        <p:spPr>
          <a:xfrm>
            <a:off x="7086600" y="2447036"/>
            <a:ext cx="9389850" cy="615553"/>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t/>
            </a:r>
            <a:endParaRPr sz="3399">
              <a:solidFill>
                <a:srgbClr val="0C3571"/>
              </a:solidFill>
              <a:latin typeface="Arial"/>
              <a:ea typeface="Arial"/>
              <a:cs typeface="Arial"/>
              <a:sym typeface="Arial"/>
            </a:endParaRPr>
          </a:p>
        </p:txBody>
      </p:sp>
      <p:sp>
        <p:nvSpPr>
          <p:cNvPr id="131" name="Google Shape;131;p4"/>
          <p:cNvSpPr txBox="1"/>
          <p:nvPr/>
        </p:nvSpPr>
        <p:spPr>
          <a:xfrm>
            <a:off x="907995" y="259921"/>
            <a:ext cx="11544300" cy="1108200"/>
          </a:xfrm>
          <a:prstGeom prst="rect">
            <a:avLst/>
          </a:prstGeom>
          <a:noFill/>
          <a:ln>
            <a:noFill/>
          </a:ln>
        </p:spPr>
        <p:txBody>
          <a:bodyPr anchorCtr="0" anchor="t" bIns="0" lIns="0" spcFirstLastPara="1" rIns="0" wrap="square" tIns="0">
            <a:spAutoFit/>
          </a:bodyPr>
          <a:lstStyle/>
          <a:p>
            <a:pPr indent="0" lvl="0" marL="0" marR="0" rtl="0" algn="l">
              <a:lnSpc>
                <a:spcPct val="195980"/>
              </a:lnSpc>
              <a:spcBef>
                <a:spcPts val="0"/>
              </a:spcBef>
              <a:spcAft>
                <a:spcPts val="0"/>
              </a:spcAft>
              <a:buNone/>
            </a:pPr>
            <a:r>
              <a:rPr lang="en-US" sz="7200">
                <a:solidFill>
                  <a:schemeClr val="dk1"/>
                </a:solidFill>
                <a:latin typeface="Times New Roman"/>
                <a:ea typeface="Times New Roman"/>
                <a:cs typeface="Times New Roman"/>
                <a:sym typeface="Times New Roman"/>
              </a:rPr>
              <a:t>Giới thiệu bộ dữ liệu</a:t>
            </a:r>
            <a:endParaRPr b="1" sz="7200">
              <a:solidFill>
                <a:srgbClr val="0C3571"/>
              </a:solidFill>
              <a:latin typeface="Times New Roman"/>
              <a:ea typeface="Times New Roman"/>
              <a:cs typeface="Times New Roman"/>
              <a:sym typeface="Times New Roman"/>
            </a:endParaRPr>
          </a:p>
        </p:txBody>
      </p:sp>
      <p:sp>
        <p:nvSpPr>
          <p:cNvPr id="132" name="Google Shape;132;p4"/>
          <p:cNvSpPr txBox="1"/>
          <p:nvPr/>
        </p:nvSpPr>
        <p:spPr>
          <a:xfrm>
            <a:off x="795920" y="1394846"/>
            <a:ext cx="14179500" cy="39711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Trong giai đoạn trích xuất, hệ thống sử dụng hai nguồn dữ liệu chính:</a:t>
            </a:r>
            <a:endParaRPr/>
          </a:p>
          <a:p>
            <a:pPr indent="-571500" lvl="1" marL="1028700" marR="0" rtl="0" algn="l">
              <a:spcBef>
                <a:spcPts val="0"/>
              </a:spcBef>
              <a:spcAft>
                <a:spcPts val="0"/>
              </a:spcAft>
              <a:buClr>
                <a:schemeClr val="dk1"/>
              </a:buClr>
              <a:buSzPts val="3600"/>
              <a:buFont typeface="Courier New"/>
              <a:buChar char="o"/>
            </a:pPr>
            <a:r>
              <a:rPr b="0" i="0" lang="en-US" sz="3600" u="none" cap="none" strike="noStrike">
                <a:solidFill>
                  <a:schemeClr val="dk1"/>
                </a:solidFill>
                <a:latin typeface="Times New Roman"/>
                <a:ea typeface="Times New Roman"/>
                <a:cs typeface="Times New Roman"/>
                <a:sym typeface="Times New Roman"/>
              </a:rPr>
              <a:t>Nguồn thứ nhất là tập dữ liệu online_retail_2.csv, chứa thông tin chi tiết về các giao dịch bán lẻ trực tuyến, bao gồm mã hóa đơn, mã sản phẩm, tên sản phẩm, số lượng, thời gian giao dịch, đơn giá, mã khách hàng và quốc gia</a:t>
            </a:r>
            <a:endParaRPr sz="3600">
              <a:solidFill>
                <a:schemeClr val="dk1"/>
              </a:solidFill>
              <a:latin typeface="Times New Roman"/>
              <a:ea typeface="Times New Roman"/>
              <a:cs typeface="Times New Roman"/>
              <a:sym typeface="Times New Roman"/>
            </a:endParaRPr>
          </a:p>
          <a:p>
            <a:pPr indent="-571500" lvl="1" marL="1028700" marR="0" rtl="0" algn="l">
              <a:spcBef>
                <a:spcPts val="0"/>
              </a:spcBef>
              <a:spcAft>
                <a:spcPts val="0"/>
              </a:spcAft>
              <a:buClr>
                <a:schemeClr val="dk1"/>
              </a:buClr>
              <a:buSzPts val="3600"/>
              <a:buFont typeface="Courier New"/>
              <a:buChar char="o"/>
            </a:pPr>
            <a:r>
              <a:rPr b="0" i="0" lang="en-US" sz="3600" u="none" cap="none" strike="noStrike">
                <a:solidFill>
                  <a:schemeClr val="dk1"/>
                </a:solidFill>
                <a:latin typeface="Times New Roman"/>
                <a:ea typeface="Times New Roman"/>
                <a:cs typeface="Times New Roman"/>
                <a:sym typeface="Times New Roman"/>
              </a:rPr>
              <a:t>Nguồn dữ liệu thứ hai là tệp country_mapping.xlsx, cung cấp thông tin ánh xạ địa lý giữa quốc gia, khu vực và châu lục</a:t>
            </a:r>
            <a:endParaRPr b="0" i="0" sz="3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40" name="Shape 140"/>
        <p:cNvGrpSpPr/>
        <p:nvPr/>
      </p:nvGrpSpPr>
      <p:grpSpPr>
        <a:xfrm>
          <a:off x="0" y="0"/>
          <a:ext cx="0" cy="0"/>
          <a:chOff x="0" y="0"/>
          <a:chExt cx="0" cy="0"/>
        </a:xfrm>
      </p:grpSpPr>
      <p:sp>
        <p:nvSpPr>
          <p:cNvPr id="141" name="Google Shape;141;p5"/>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5"/>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5"/>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5"/>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5"/>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5"/>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txBox="1"/>
          <p:nvPr/>
        </p:nvSpPr>
        <p:spPr>
          <a:xfrm>
            <a:off x="1384343" y="409106"/>
            <a:ext cx="10009291" cy="1158972"/>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Business Questions</a:t>
            </a:r>
            <a:endParaRPr b="1" sz="6999">
              <a:solidFill>
                <a:srgbClr val="0C3571"/>
              </a:solidFill>
              <a:latin typeface="Times New Roman"/>
              <a:ea typeface="Times New Roman"/>
              <a:cs typeface="Times New Roman"/>
              <a:sym typeface="Times New Roman"/>
            </a:endParaRPr>
          </a:p>
        </p:txBody>
      </p:sp>
      <p:sp>
        <p:nvSpPr>
          <p:cNvPr id="148" name="Google Shape;148;p5"/>
          <p:cNvSpPr txBox="1"/>
          <p:nvPr/>
        </p:nvSpPr>
        <p:spPr>
          <a:xfrm>
            <a:off x="2384557" y="2078586"/>
            <a:ext cx="11445600" cy="5633700"/>
          </a:xfrm>
          <a:prstGeom prst="rect">
            <a:avLst/>
          </a:prstGeom>
          <a:noFill/>
          <a:ln>
            <a:noFill/>
          </a:ln>
        </p:spPr>
        <p:txBody>
          <a:bodyPr anchorCtr="0" anchor="t" bIns="45700" lIns="91425" spcFirstLastPara="1" rIns="91425" wrap="square" tIns="45700">
            <a:spAutoFit/>
          </a:bodyPr>
          <a:lstStyle/>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Tháng nào có doanh thu cao nhất?</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Quốc gia nào mang lại doanh thu lớn nhất?</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Top 10 sản phẩm bán chạy nhất?</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Khách hàng chi tiêu nhiều nhất?</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Trung bình mỗi hóa đơn có bao nhiêu sản phẩm?</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Tỷ lệ hoàn trả đơn hàng theo tháng?</a:t>
            </a:r>
            <a:endParaRPr sz="3600">
              <a:latin typeface="Times New Roman"/>
              <a:ea typeface="Times New Roman"/>
              <a:cs typeface="Times New Roman"/>
              <a:sym typeface="Times New Roman"/>
            </a:endParaRPr>
          </a:p>
          <a:p>
            <a:pPr indent="-469900" lvl="0" marL="457200" marR="0" rtl="0" algn="l">
              <a:lnSpc>
                <a:spcPct val="150000"/>
              </a:lnSpc>
              <a:spcBef>
                <a:spcPts val="0"/>
              </a:spcBef>
              <a:spcAft>
                <a:spcPts val="0"/>
              </a:spcAft>
              <a:buClr>
                <a:schemeClr val="dk1"/>
              </a:buClr>
              <a:buSzPts val="3600"/>
              <a:buFont typeface="Times New Roman"/>
              <a:buChar char="o"/>
            </a:pPr>
            <a:r>
              <a:rPr i="0" lang="en-US" sz="3600" u="none" cap="none" strike="noStrike">
                <a:solidFill>
                  <a:schemeClr val="dk1"/>
                </a:solidFill>
                <a:latin typeface="Times New Roman"/>
                <a:ea typeface="Times New Roman"/>
                <a:cs typeface="Times New Roman"/>
                <a:sym typeface="Times New Roman"/>
              </a:rPr>
              <a:t>Doanh thu thay đổi giữa các quý như thế nào? </a:t>
            </a:r>
            <a:endParaRPr sz="3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56" name="Shape 156"/>
        <p:cNvGrpSpPr/>
        <p:nvPr/>
      </p:nvGrpSpPr>
      <p:grpSpPr>
        <a:xfrm>
          <a:off x="0" y="0"/>
          <a:ext cx="0" cy="0"/>
          <a:chOff x="0" y="0"/>
          <a:chExt cx="0" cy="0"/>
        </a:xfrm>
      </p:grpSpPr>
      <p:sp>
        <p:nvSpPr>
          <p:cNvPr id="157" name="Google Shape;157;p6"/>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6"/>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6"/>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6"/>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6"/>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6"/>
          <p:cNvSpPr txBox="1"/>
          <p:nvPr/>
        </p:nvSpPr>
        <p:spPr>
          <a:xfrm>
            <a:off x="2166811" y="474608"/>
            <a:ext cx="10009200" cy="1108200"/>
          </a:xfrm>
          <a:prstGeom prst="rect">
            <a:avLst/>
          </a:prstGeom>
          <a:noFill/>
          <a:ln>
            <a:noFill/>
          </a:ln>
        </p:spPr>
        <p:txBody>
          <a:bodyPr anchorCtr="0" anchor="t" bIns="0" lIns="0" spcFirstLastPara="1" rIns="0" wrap="square" tIns="0">
            <a:spAutoFit/>
          </a:bodyPr>
          <a:lstStyle/>
          <a:p>
            <a:pPr indent="0" lvl="0" marL="0" marR="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KPI của hệ thống</a:t>
            </a:r>
            <a:endParaRPr b="1" sz="6999">
              <a:solidFill>
                <a:srgbClr val="0C3571"/>
              </a:solidFill>
              <a:latin typeface="Times New Roman"/>
              <a:ea typeface="Times New Roman"/>
              <a:cs typeface="Times New Roman"/>
              <a:sym typeface="Times New Roman"/>
            </a:endParaRPr>
          </a:p>
        </p:txBody>
      </p:sp>
      <p:pic>
        <p:nvPicPr>
          <p:cNvPr id="164" name="Google Shape;164;p6"/>
          <p:cNvPicPr preferRelativeResize="0"/>
          <p:nvPr/>
        </p:nvPicPr>
        <p:blipFill rotWithShape="1">
          <a:blip r:embed="rId6">
            <a:alphaModFix/>
          </a:blip>
          <a:srcRect b="0" l="0" r="0" t="0"/>
          <a:stretch/>
        </p:blipFill>
        <p:spPr>
          <a:xfrm>
            <a:off x="2166789" y="1824512"/>
            <a:ext cx="7891612" cy="72304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7"/>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7"/>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7"/>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7"/>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7"/>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7"/>
          <p:cNvSpPr txBox="1"/>
          <p:nvPr/>
        </p:nvSpPr>
        <p:spPr>
          <a:xfrm>
            <a:off x="3698848" y="3428995"/>
            <a:ext cx="10890300" cy="4125000"/>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PHẦN 2 – THIẾT KẾ SCHEMA VÀ TRIỂN KHAI TRÊN DBMS</a:t>
            </a:r>
            <a:endParaRPr b="1" sz="6999">
              <a:solidFill>
                <a:srgbClr val="0C357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A screenshot of a computer flow chart&#10;&#10;Description automatically generated" id="185" name="Google Shape;185;p8"/>
          <p:cNvPicPr preferRelativeResize="0"/>
          <p:nvPr/>
        </p:nvPicPr>
        <p:blipFill rotWithShape="1">
          <a:blip r:embed="rId3">
            <a:alphaModFix/>
          </a:blip>
          <a:srcRect b="0" l="0" r="0" t="0"/>
          <a:stretch/>
        </p:blipFill>
        <p:spPr>
          <a:xfrm>
            <a:off x="1034173" y="1482201"/>
            <a:ext cx="9345030" cy="7322598"/>
          </a:xfrm>
          <a:prstGeom prst="rect">
            <a:avLst/>
          </a:prstGeom>
          <a:noFill/>
          <a:ln>
            <a:noFill/>
          </a:ln>
        </p:spPr>
      </p:pic>
      <p:sp>
        <p:nvSpPr>
          <p:cNvPr id="186" name="Google Shape;186;p8"/>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8"/>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8"/>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8"/>
          <p:cNvSpPr txBox="1"/>
          <p:nvPr/>
        </p:nvSpPr>
        <p:spPr>
          <a:xfrm>
            <a:off x="150960" y="328040"/>
            <a:ext cx="12595558" cy="1219565"/>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Arial"/>
                <a:ea typeface="Arial"/>
                <a:cs typeface="Arial"/>
                <a:sym typeface="Arial"/>
              </a:rPr>
              <a:t>Triển khai &amp; kiểm thử hệ thống</a:t>
            </a:r>
            <a:endParaRPr b="1" sz="7200">
              <a:solidFill>
                <a:srgbClr val="0C3571"/>
              </a:solidFill>
              <a:latin typeface="Arial"/>
              <a:ea typeface="Arial"/>
              <a:cs typeface="Arial"/>
              <a:sym typeface="Arial"/>
            </a:endParaRPr>
          </a:p>
        </p:txBody>
      </p:sp>
      <p:sp>
        <p:nvSpPr>
          <p:cNvPr id="192" name="Google Shape;192;p8"/>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8"/>
          <p:cNvSpPr txBox="1"/>
          <p:nvPr/>
        </p:nvSpPr>
        <p:spPr>
          <a:xfrm>
            <a:off x="10194348" y="3119348"/>
            <a:ext cx="7376149"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Arial"/>
                <a:ea typeface="Arial"/>
                <a:cs typeface="Arial"/>
                <a:sym typeface="Arial"/>
              </a:rPr>
              <a:t>- Tạo database OnlineRetailDW trên SQL Server.</a:t>
            </a:r>
            <a:endParaRPr sz="3600">
              <a:solidFill>
                <a:schemeClr val="dk1"/>
              </a:solidFill>
              <a:latin typeface="Arial"/>
              <a:ea typeface="Arial"/>
              <a:cs typeface="Arial"/>
              <a:sym typeface="Arial"/>
            </a:endParaRPr>
          </a:p>
          <a:p>
            <a:pPr indent="0" lvl="0" marL="0" marR="0" rtl="0" algn="l">
              <a:spcBef>
                <a:spcPts val="0"/>
              </a:spcBef>
              <a:spcAft>
                <a:spcPts val="0"/>
              </a:spcAft>
              <a:buNone/>
            </a:pPr>
            <a:r>
              <a:rPr lang="en-US" sz="3600">
                <a:solidFill>
                  <a:schemeClr val="dk1"/>
                </a:solidFill>
                <a:latin typeface="Arial"/>
                <a:ea typeface="Arial"/>
                <a:cs typeface="Arial"/>
                <a:sym typeface="Arial"/>
              </a:rPr>
              <a:t>- Thực thi script để tạo:</a:t>
            </a:r>
            <a:endParaRPr/>
          </a:p>
          <a:p>
            <a:pPr indent="-571500" lvl="0" marL="571500" marR="0" rtl="0" algn="l">
              <a:spcBef>
                <a:spcPts val="0"/>
              </a:spcBef>
              <a:spcAft>
                <a:spcPts val="0"/>
              </a:spcAft>
              <a:buClr>
                <a:schemeClr val="dk1"/>
              </a:buClr>
              <a:buSzPts val="3600"/>
              <a:buFont typeface="Courier New"/>
              <a:buChar char="o"/>
            </a:pPr>
            <a:r>
              <a:rPr lang="en-US" sz="3600">
                <a:solidFill>
                  <a:schemeClr val="dk1"/>
                </a:solidFill>
                <a:latin typeface="Arial"/>
                <a:ea typeface="Arial"/>
                <a:cs typeface="Arial"/>
                <a:sym typeface="Arial"/>
              </a:rPr>
              <a:t>Các bảng Dimension</a:t>
            </a:r>
            <a:endParaRPr/>
          </a:p>
          <a:p>
            <a:pPr indent="-571500" lvl="0" marL="571500" marR="0" rtl="0" algn="l">
              <a:spcBef>
                <a:spcPts val="0"/>
              </a:spcBef>
              <a:spcAft>
                <a:spcPts val="0"/>
              </a:spcAft>
              <a:buClr>
                <a:schemeClr val="dk1"/>
              </a:buClr>
              <a:buSzPts val="3600"/>
              <a:buFont typeface="Courier New"/>
              <a:buChar char="o"/>
            </a:pPr>
            <a:r>
              <a:rPr lang="en-US" sz="3600">
                <a:solidFill>
                  <a:schemeClr val="dk1"/>
                </a:solidFill>
                <a:latin typeface="Arial"/>
                <a:ea typeface="Arial"/>
                <a:cs typeface="Arial"/>
                <a:sym typeface="Arial"/>
              </a:rPr>
              <a:t>Các bảng Fact</a:t>
            </a:r>
            <a:endParaRPr sz="3600">
              <a:solidFill>
                <a:schemeClr val="dk1"/>
              </a:solidFill>
              <a:latin typeface="Arial"/>
              <a:ea typeface="Arial"/>
              <a:cs typeface="Arial"/>
              <a:sym typeface="Arial"/>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Hệ thống tập trung vào hai quy trình nghiệp vụ chính là bán hàng và hoàn trả</a:t>
            </a:r>
            <a:endParaRPr sz="3600">
              <a:solidFill>
                <a:schemeClr val="dk1"/>
              </a:solidFill>
              <a:latin typeface="Arial"/>
              <a:ea typeface="Arial"/>
              <a:cs typeface="Arial"/>
              <a:sym typeface="Arial"/>
            </a:endParaRPr>
          </a:p>
          <a:p>
            <a:pPr indent="-342900" lvl="0" marL="571500" marR="0" rtl="0" algn="l">
              <a:spcBef>
                <a:spcPts val="0"/>
              </a:spcBef>
              <a:spcAft>
                <a:spcPts val="0"/>
              </a:spcAft>
              <a:buClr>
                <a:schemeClr val="dk1"/>
              </a:buClr>
              <a:buSzPts val="3600"/>
              <a:buFont typeface="Courier New"/>
              <a:buNone/>
            </a:pPr>
            <a:r>
              <a:t/>
            </a:r>
            <a:endParaRPr sz="36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9"/>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9"/>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9"/>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9"/>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txBox="1"/>
          <p:nvPr/>
        </p:nvSpPr>
        <p:spPr>
          <a:xfrm>
            <a:off x="2693836" y="3275034"/>
            <a:ext cx="12760500" cy="4125000"/>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PHẦN 3 – QUY TRÌNH ETL (EXTRACT – TRANSFORM – LOAD)</a:t>
            </a:r>
            <a:endParaRPr b="1" sz="6999">
              <a:solidFill>
                <a:srgbClr val="0C357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0"/>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0"/>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0"/>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txBox="1"/>
          <p:nvPr/>
        </p:nvSpPr>
        <p:spPr>
          <a:xfrm>
            <a:off x="150960" y="328040"/>
            <a:ext cx="12054810" cy="1158972"/>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Extract- Trích xuất dữ liệu</a:t>
            </a:r>
            <a:endParaRPr b="1" sz="7200">
              <a:solidFill>
                <a:srgbClr val="0C3571"/>
              </a:solidFill>
              <a:latin typeface="Times New Roman"/>
              <a:ea typeface="Times New Roman"/>
              <a:cs typeface="Times New Roman"/>
              <a:sym typeface="Times New Roman"/>
            </a:endParaRPr>
          </a:p>
        </p:txBody>
      </p:sp>
      <p:sp>
        <p:nvSpPr>
          <p:cNvPr id="219" name="Google Shape;219;p10"/>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0"/>
          <p:cNvSpPr txBox="1"/>
          <p:nvPr/>
        </p:nvSpPr>
        <p:spPr>
          <a:xfrm>
            <a:off x="11353800" y="3188025"/>
            <a:ext cx="7059478"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 Trích xuất dữ liệu từ:</a:t>
            </a:r>
            <a:endParaRPr/>
          </a:p>
          <a:p>
            <a:pPr indent="0" lvl="1" marL="457200" marR="0" rtl="0" algn="l">
              <a:spcBef>
                <a:spcPts val="0"/>
              </a:spcBef>
              <a:spcAft>
                <a:spcPts val="0"/>
              </a:spcAft>
              <a:buNone/>
            </a:pPr>
            <a:r>
              <a:rPr b="0" i="0" lang="en-US" sz="3600" u="none" cap="none" strike="noStrike">
                <a:solidFill>
                  <a:schemeClr val="dk1"/>
                </a:solidFill>
                <a:latin typeface="Times New Roman"/>
                <a:ea typeface="Times New Roman"/>
                <a:cs typeface="Times New Roman"/>
                <a:sym typeface="Times New Roman"/>
              </a:rPr>
              <a:t>online_retail_2.csv</a:t>
            </a:r>
            <a:endParaRPr/>
          </a:p>
          <a:p>
            <a:pPr indent="0" lvl="1" marL="457200" marR="0" rtl="0" algn="l">
              <a:spcBef>
                <a:spcPts val="0"/>
              </a:spcBef>
              <a:spcAft>
                <a:spcPts val="0"/>
              </a:spcAft>
              <a:buNone/>
            </a:pPr>
            <a:r>
              <a:rPr b="0" i="0" lang="en-US" sz="3600" u="none" cap="none" strike="noStrike">
                <a:solidFill>
                  <a:schemeClr val="dk1"/>
                </a:solidFill>
                <a:latin typeface="Times New Roman"/>
                <a:ea typeface="Times New Roman"/>
                <a:cs typeface="Times New Roman"/>
                <a:sym typeface="Times New Roman"/>
              </a:rPr>
              <a:t>country_mapping.xlsx</a:t>
            </a:r>
            <a:endParaRPr b="0" i="0" sz="3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 Kết nối đến hệ quản trị cơ sở dữ liệu SQL Server bằng SQLAlchemy kết hợp với pyodbc</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 Nạp vào cơ sở dữ liệu trung gian OnlineRetailDWStage</a:t>
            </a:r>
            <a:endParaRPr sz="3600">
              <a:solidFill>
                <a:schemeClr val="dk1"/>
              </a:solidFill>
              <a:latin typeface="Times New Roman"/>
              <a:ea typeface="Times New Roman"/>
              <a:cs typeface="Times New Roman"/>
              <a:sym typeface="Times New Roman"/>
            </a:endParaRPr>
          </a:p>
        </p:txBody>
      </p:sp>
      <p:pic>
        <p:nvPicPr>
          <p:cNvPr id="221" name="Google Shape;221;p10"/>
          <p:cNvPicPr preferRelativeResize="0"/>
          <p:nvPr/>
        </p:nvPicPr>
        <p:blipFill rotWithShape="1">
          <a:blip r:embed="rId6">
            <a:alphaModFix/>
          </a:blip>
          <a:srcRect b="0" l="0" r="0" t="0"/>
          <a:stretch/>
        </p:blipFill>
        <p:spPr>
          <a:xfrm>
            <a:off x="589103" y="1700212"/>
            <a:ext cx="10078897" cy="7086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1"/>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1"/>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1"/>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1"/>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1"/>
          <p:cNvSpPr txBox="1"/>
          <p:nvPr/>
        </p:nvSpPr>
        <p:spPr>
          <a:xfrm>
            <a:off x="150960" y="328040"/>
            <a:ext cx="12054810" cy="1158972"/>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Transform: Làm sạch dữ liệu</a:t>
            </a:r>
            <a:endParaRPr b="1" sz="7200">
              <a:solidFill>
                <a:srgbClr val="0C3571"/>
              </a:solidFill>
              <a:latin typeface="Times New Roman"/>
              <a:ea typeface="Times New Roman"/>
              <a:cs typeface="Times New Roman"/>
              <a:sym typeface="Times New Roman"/>
            </a:endParaRPr>
          </a:p>
        </p:txBody>
      </p:sp>
      <p:sp>
        <p:nvSpPr>
          <p:cNvPr id="236" name="Google Shape;236;p11"/>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1"/>
          <p:cNvSpPr txBox="1"/>
          <p:nvPr/>
        </p:nvSpPr>
        <p:spPr>
          <a:xfrm>
            <a:off x="9676037" y="2557926"/>
            <a:ext cx="7620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Loại bỏ bản ghi thiếu, trùng lặp</a:t>
            </a:r>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Tính các trường phát sinh</a:t>
            </a:r>
            <a:endParaRPr/>
          </a:p>
        </p:txBody>
      </p:sp>
      <p:pic>
        <p:nvPicPr>
          <p:cNvPr id="238" name="Google Shape;238;p11"/>
          <p:cNvPicPr preferRelativeResize="0"/>
          <p:nvPr/>
        </p:nvPicPr>
        <p:blipFill rotWithShape="1">
          <a:blip r:embed="rId6">
            <a:alphaModFix/>
          </a:blip>
          <a:srcRect b="0" l="0" r="0" t="0"/>
          <a:stretch/>
        </p:blipFill>
        <p:spPr>
          <a:xfrm>
            <a:off x="956809" y="4375433"/>
            <a:ext cx="7287642" cy="3772426"/>
          </a:xfrm>
          <a:prstGeom prst="rect">
            <a:avLst/>
          </a:prstGeom>
          <a:noFill/>
          <a:ln>
            <a:noFill/>
          </a:ln>
        </p:spPr>
      </p:pic>
      <p:pic>
        <p:nvPicPr>
          <p:cNvPr id="239" name="Google Shape;239;p11"/>
          <p:cNvPicPr preferRelativeResize="0"/>
          <p:nvPr/>
        </p:nvPicPr>
        <p:blipFill rotWithShape="1">
          <a:blip r:embed="rId7">
            <a:alphaModFix/>
          </a:blip>
          <a:srcRect b="0" l="0" r="0" t="0"/>
          <a:stretch/>
        </p:blipFill>
        <p:spPr>
          <a:xfrm>
            <a:off x="898087" y="1531036"/>
            <a:ext cx="7363853" cy="2410161"/>
          </a:xfrm>
          <a:prstGeom prst="rect">
            <a:avLst/>
          </a:prstGeom>
          <a:noFill/>
          <a:ln>
            <a:noFill/>
          </a:ln>
        </p:spPr>
      </p:pic>
      <p:pic>
        <p:nvPicPr>
          <p:cNvPr id="240" name="Google Shape;240;p11"/>
          <p:cNvPicPr preferRelativeResize="0"/>
          <p:nvPr/>
        </p:nvPicPr>
        <p:blipFill rotWithShape="1">
          <a:blip r:embed="rId8">
            <a:alphaModFix/>
          </a:blip>
          <a:srcRect b="0" l="0" r="0" t="0"/>
          <a:stretch/>
        </p:blipFill>
        <p:spPr>
          <a:xfrm>
            <a:off x="9206396" y="5289284"/>
            <a:ext cx="7268589" cy="280074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2"/>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2"/>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2"/>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2"/>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2"/>
          <p:cNvSpPr txBox="1"/>
          <p:nvPr/>
        </p:nvSpPr>
        <p:spPr>
          <a:xfrm>
            <a:off x="150950" y="328050"/>
            <a:ext cx="17858100" cy="1108200"/>
          </a:xfrm>
          <a:prstGeom prst="rect">
            <a:avLst/>
          </a:prstGeom>
          <a:noFill/>
          <a:ln>
            <a:noFill/>
          </a:ln>
        </p:spPr>
        <p:txBody>
          <a:bodyPr anchorCtr="0" anchor="t" bIns="0" lIns="0" spcFirstLastPara="1" rIns="0" wrap="square" tIns="0">
            <a:spAutoFit/>
          </a:bodyPr>
          <a:lstStyle/>
          <a:p>
            <a:pPr indent="0" lvl="0" marL="0" marR="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Load - Nạp dữ liệu vào Data Warehouse</a:t>
            </a:r>
            <a:endParaRPr b="1" sz="7200">
              <a:solidFill>
                <a:srgbClr val="0C3571"/>
              </a:solidFill>
              <a:latin typeface="Times New Roman"/>
              <a:ea typeface="Times New Roman"/>
              <a:cs typeface="Times New Roman"/>
              <a:sym typeface="Times New Roman"/>
            </a:endParaRPr>
          </a:p>
        </p:txBody>
      </p:sp>
      <p:sp>
        <p:nvSpPr>
          <p:cNvPr id="255" name="Google Shape;255;p12"/>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2"/>
          <p:cNvSpPr txBox="1"/>
          <p:nvPr/>
        </p:nvSpPr>
        <p:spPr>
          <a:xfrm>
            <a:off x="2571617" y="6903473"/>
            <a:ext cx="145314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Nạp dữ liệu vào Data Warehouse theo thứ tự Dimensions đến Facts, sử dụng SSIS</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LogStart, LogEnd để ghi lại thông tin khi đẩy data vào các bảng</a:t>
            </a:r>
            <a:endParaRPr/>
          </a:p>
        </p:txBody>
      </p:sp>
      <p:pic>
        <p:nvPicPr>
          <p:cNvPr descr="A diagram of a company&#10;&#10;Description automatically generated with medium confidence" id="257" name="Google Shape;257;p12"/>
          <p:cNvPicPr preferRelativeResize="0"/>
          <p:nvPr/>
        </p:nvPicPr>
        <p:blipFill rotWithShape="1">
          <a:blip r:embed="rId6">
            <a:alphaModFix/>
          </a:blip>
          <a:srcRect b="0" l="0" r="0" t="0"/>
          <a:stretch/>
        </p:blipFill>
        <p:spPr>
          <a:xfrm>
            <a:off x="2445980" y="2315569"/>
            <a:ext cx="14683686" cy="43804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3"/>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3"/>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3"/>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13"/>
          <p:cNvSpPr/>
          <p:nvPr/>
        </p:nvSpPr>
        <p:spPr>
          <a:xfrm rot="7488824">
            <a:off x="-105297" y="7727724"/>
            <a:ext cx="3071030" cy="5804353"/>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3"/>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3"/>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Load - Nạp dữ liệu vào Data Warehouse</a:t>
            </a:r>
            <a:endParaRPr sz="7200">
              <a:solidFill>
                <a:schemeClr val="dk1"/>
              </a:solidFill>
            </a:endParaRPr>
          </a:p>
        </p:txBody>
      </p:sp>
      <p:sp>
        <p:nvSpPr>
          <p:cNvPr id="272" name="Google Shape;272;p13"/>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3"/>
          <p:cNvSpPr txBox="1"/>
          <p:nvPr/>
        </p:nvSpPr>
        <p:spPr>
          <a:xfrm>
            <a:off x="3693850" y="7803713"/>
            <a:ext cx="11883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Dữ liệu trong bảng FactSales sau khi nạp vào Data Warehouse</a:t>
            </a:r>
            <a:endParaRPr>
              <a:latin typeface="Times New Roman"/>
              <a:ea typeface="Times New Roman"/>
              <a:cs typeface="Times New Roman"/>
              <a:sym typeface="Times New Roman"/>
            </a:endParaRPr>
          </a:p>
        </p:txBody>
      </p:sp>
      <p:pic>
        <p:nvPicPr>
          <p:cNvPr id="274" name="Google Shape;274;p13"/>
          <p:cNvPicPr preferRelativeResize="0"/>
          <p:nvPr/>
        </p:nvPicPr>
        <p:blipFill>
          <a:blip r:embed="rId6">
            <a:alphaModFix/>
          </a:blip>
          <a:stretch>
            <a:fillRect/>
          </a:stretch>
        </p:blipFill>
        <p:spPr>
          <a:xfrm>
            <a:off x="3693825" y="1507861"/>
            <a:ext cx="11883050" cy="6295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d57c03b4b2_0_4"/>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g3d57c03b4b2_0_4"/>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g3d57c03b4b2_0_4"/>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g3d57c03b4b2_0_4"/>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g3d57c03b4b2_0_4"/>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g3d57c03b4b2_0_4"/>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Load - Nạp dữ liệu vào Data Warehouse</a:t>
            </a:r>
            <a:endParaRPr sz="7200">
              <a:solidFill>
                <a:schemeClr val="dk1"/>
              </a:solidFill>
            </a:endParaRPr>
          </a:p>
        </p:txBody>
      </p:sp>
      <p:sp>
        <p:nvSpPr>
          <p:cNvPr id="289" name="Google Shape;289;g3d57c03b4b2_0_4"/>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g3d57c03b4b2_0_4"/>
          <p:cNvSpPr txBox="1"/>
          <p:nvPr/>
        </p:nvSpPr>
        <p:spPr>
          <a:xfrm>
            <a:off x="2854150" y="6848100"/>
            <a:ext cx="13112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Bảng ETL_LOG theo dõi trạng thái nạp dữ liệu</a:t>
            </a:r>
            <a:endParaRPr>
              <a:latin typeface="Times New Roman"/>
              <a:ea typeface="Times New Roman"/>
              <a:cs typeface="Times New Roman"/>
              <a:sym typeface="Times New Roman"/>
            </a:endParaRPr>
          </a:p>
        </p:txBody>
      </p:sp>
      <p:pic>
        <p:nvPicPr>
          <p:cNvPr id="291" name="Google Shape;291;g3d57c03b4b2_0_4"/>
          <p:cNvPicPr preferRelativeResize="0"/>
          <p:nvPr/>
        </p:nvPicPr>
        <p:blipFill>
          <a:blip r:embed="rId6">
            <a:alphaModFix/>
          </a:blip>
          <a:stretch>
            <a:fillRect/>
          </a:stretch>
        </p:blipFill>
        <p:spPr>
          <a:xfrm>
            <a:off x="2854138" y="2658074"/>
            <a:ext cx="13267721" cy="411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d57c03b4b2_0_22"/>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g3d57c03b4b2_0_22"/>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g3d57c03b4b2_0_22"/>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g3d57c03b4b2_0_22"/>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g3d57c03b4b2_0_22"/>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g3d57c03b4b2_0_22"/>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g3d57c03b4b2_0_22"/>
          <p:cNvSpPr txBox="1"/>
          <p:nvPr/>
        </p:nvSpPr>
        <p:spPr>
          <a:xfrm>
            <a:off x="3698848" y="2959895"/>
            <a:ext cx="10890300" cy="5633100"/>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PHẦN 4 – </a:t>
            </a:r>
            <a:r>
              <a:rPr lang="en-US" sz="7200">
                <a:solidFill>
                  <a:schemeClr val="dk1"/>
                </a:solidFill>
                <a:latin typeface="Times New Roman"/>
                <a:ea typeface="Times New Roman"/>
                <a:cs typeface="Times New Roman"/>
                <a:sym typeface="Times New Roman"/>
              </a:rPr>
              <a:t>XÂY DỰNG OLAP CUBE VÀ PHÂN TÍCH ĐA CHIỀU</a:t>
            </a:r>
            <a:endParaRPr sz="7200">
              <a:solidFill>
                <a:schemeClr val="dk1"/>
              </a:solidFill>
              <a:latin typeface="Times New Roman"/>
              <a:ea typeface="Times New Roman"/>
              <a:cs typeface="Times New Roman"/>
              <a:sym typeface="Times New Roman"/>
            </a:endParaRPr>
          </a:p>
          <a:p>
            <a:pPr indent="0" lvl="0" marL="0" marR="0" rtl="0" algn="ctr">
              <a:lnSpc>
                <a:spcPct val="136097"/>
              </a:lnSpc>
              <a:spcBef>
                <a:spcPts val="0"/>
              </a:spcBef>
              <a:spcAft>
                <a:spcPts val="0"/>
              </a:spcAft>
              <a:buNone/>
            </a:pPr>
            <a:r>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d57c03b4b2_0_34"/>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g3d57c03b4b2_0_34"/>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g3d57c03b4b2_0_34"/>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g3d57c03b4b2_0_34"/>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g3d57c03b4b2_0_34"/>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g3d57c03b4b2_0_34"/>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Clr>
                <a:schemeClr val="dk1"/>
              </a:buClr>
              <a:buFont typeface="Arial"/>
              <a:buNone/>
            </a:pPr>
            <a:r>
              <a:rPr lang="en-US" sz="7200">
                <a:solidFill>
                  <a:schemeClr val="dk1"/>
                </a:solidFill>
                <a:latin typeface="Times New Roman"/>
                <a:ea typeface="Times New Roman"/>
                <a:cs typeface="Times New Roman"/>
                <a:sym typeface="Times New Roman"/>
              </a:rPr>
              <a:t>Thiết kế và xây dựng OLAP Cube</a:t>
            </a:r>
            <a:endParaRPr sz="7200">
              <a:solidFill>
                <a:schemeClr val="dk1"/>
              </a:solidFill>
            </a:endParaRPr>
          </a:p>
        </p:txBody>
      </p:sp>
      <p:sp>
        <p:nvSpPr>
          <p:cNvPr id="318" name="Google Shape;318;g3d57c03b4b2_0_34"/>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g3d57c03b4b2_0_34"/>
          <p:cNvSpPr txBox="1"/>
          <p:nvPr/>
        </p:nvSpPr>
        <p:spPr>
          <a:xfrm>
            <a:off x="11394625" y="2518038"/>
            <a:ext cx="5677500" cy="507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OLAP Cube được xây dựng bằng SQL Server Analysis Services</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3600">
                <a:solidFill>
                  <a:schemeClr val="dk1"/>
                </a:solidFill>
                <a:latin typeface="Times New Roman"/>
                <a:ea typeface="Times New Roman"/>
                <a:cs typeface="Times New Roman"/>
                <a:sym typeface="Times New Roman"/>
              </a:rPr>
              <a:t>Cube sử dụng hai bảng sự kiện chính là</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3600">
                <a:solidFill>
                  <a:schemeClr val="dk1"/>
                </a:solidFill>
                <a:latin typeface="Times New Roman"/>
                <a:ea typeface="Times New Roman"/>
                <a:cs typeface="Times New Roman"/>
                <a:sym typeface="Times New Roman"/>
              </a:rPr>
              <a:t>FactSales và FactReturn làm nguồn dữ liệu cho các chỉ số đo lường.</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pic>
        <p:nvPicPr>
          <p:cNvPr id="320" name="Google Shape;320;g3d57c03b4b2_0_34"/>
          <p:cNvPicPr preferRelativeResize="0"/>
          <p:nvPr/>
        </p:nvPicPr>
        <p:blipFill>
          <a:blip r:embed="rId6">
            <a:alphaModFix/>
          </a:blip>
          <a:stretch>
            <a:fillRect/>
          </a:stretch>
        </p:blipFill>
        <p:spPr>
          <a:xfrm>
            <a:off x="1081425" y="2079088"/>
            <a:ext cx="10088301" cy="6128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d57c03b4b2_0_54"/>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g3d57c03b4b2_0_54"/>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g3d57c03b4b2_0_54"/>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g3d57c03b4b2_0_54"/>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g3d57c03b4b2_0_54"/>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g3d57c03b4b2_0_54"/>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Thiết kế Hierarchy trong Cube</a:t>
            </a:r>
            <a:endParaRPr sz="7200">
              <a:solidFill>
                <a:schemeClr val="dk1"/>
              </a:solidFill>
            </a:endParaRPr>
          </a:p>
        </p:txBody>
      </p:sp>
      <p:sp>
        <p:nvSpPr>
          <p:cNvPr id="335" name="Google Shape;335;g3d57c03b4b2_0_54"/>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g3d57c03b4b2_0_54"/>
          <p:cNvSpPr txBox="1"/>
          <p:nvPr/>
        </p:nvSpPr>
        <p:spPr>
          <a:xfrm>
            <a:off x="11394625" y="2518038"/>
            <a:ext cx="56775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Phân cấp phân tích dữ liệu từ mức tổng quát (năm) xuống mức chi tiết (ngày)</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Phân cấp</a:t>
            </a:r>
            <a:r>
              <a:rPr lang="en-US" sz="3600">
                <a:solidFill>
                  <a:schemeClr val="dk1"/>
                </a:solidFill>
                <a:latin typeface="Times New Roman"/>
                <a:ea typeface="Times New Roman"/>
                <a:cs typeface="Times New Roman"/>
                <a:sym typeface="Times New Roman"/>
              </a:rPr>
              <a:t> địa lý hỗ trợ việc phân tích hiệu quả theo khu vực, từ châu lục đến từng quốc gia</a:t>
            </a:r>
            <a:endParaRPr sz="3600">
              <a:solidFill>
                <a:schemeClr val="dk1"/>
              </a:solidFill>
              <a:latin typeface="Times New Roman"/>
              <a:ea typeface="Times New Roman"/>
              <a:cs typeface="Times New Roman"/>
              <a:sym typeface="Times New Roman"/>
            </a:endParaRPr>
          </a:p>
        </p:txBody>
      </p:sp>
      <p:pic>
        <p:nvPicPr>
          <p:cNvPr id="337" name="Google Shape;337;g3d57c03b4b2_0_54"/>
          <p:cNvPicPr preferRelativeResize="0"/>
          <p:nvPr/>
        </p:nvPicPr>
        <p:blipFill>
          <a:blip r:embed="rId6">
            <a:alphaModFix/>
          </a:blip>
          <a:stretch>
            <a:fillRect/>
          </a:stretch>
        </p:blipFill>
        <p:spPr>
          <a:xfrm>
            <a:off x="1100175" y="1840275"/>
            <a:ext cx="4242150" cy="5785000"/>
          </a:xfrm>
          <a:prstGeom prst="rect">
            <a:avLst/>
          </a:prstGeom>
          <a:noFill/>
          <a:ln>
            <a:noFill/>
          </a:ln>
        </p:spPr>
      </p:pic>
      <p:pic>
        <p:nvPicPr>
          <p:cNvPr id="338" name="Google Shape;338;g3d57c03b4b2_0_54"/>
          <p:cNvPicPr preferRelativeResize="0"/>
          <p:nvPr/>
        </p:nvPicPr>
        <p:blipFill>
          <a:blip r:embed="rId7">
            <a:alphaModFix/>
          </a:blip>
          <a:stretch>
            <a:fillRect/>
          </a:stretch>
        </p:blipFill>
        <p:spPr>
          <a:xfrm>
            <a:off x="5778250" y="1819413"/>
            <a:ext cx="4655801" cy="5826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d57c03b4b2_0_77"/>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g3d57c03b4b2_0_77"/>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g3d57c03b4b2_0_77"/>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g3d57c03b4b2_0_77"/>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g3d57c03b4b2_0_77"/>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g3d57c03b4b2_0_77"/>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Measure và Calculated Member</a:t>
            </a:r>
            <a:endParaRPr sz="7200">
              <a:solidFill>
                <a:schemeClr val="dk1"/>
              </a:solidFill>
            </a:endParaRPr>
          </a:p>
        </p:txBody>
      </p:sp>
      <p:sp>
        <p:nvSpPr>
          <p:cNvPr id="353" name="Google Shape;353;g3d57c03b4b2_0_77"/>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g3d57c03b4b2_0_77"/>
          <p:cNvSpPr txBox="1"/>
          <p:nvPr/>
        </p:nvSpPr>
        <p:spPr>
          <a:xfrm>
            <a:off x="1827125" y="6884700"/>
            <a:ext cx="14633700" cy="1200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3600">
                <a:solidFill>
                  <a:schemeClr val="dk1"/>
                </a:solidFill>
                <a:latin typeface="Times New Roman"/>
                <a:ea typeface="Times New Roman"/>
                <a:cs typeface="Times New Roman"/>
                <a:sym typeface="Times New Roman"/>
              </a:rPr>
              <a:t>Các calculated measure được định nghĩa bằng MDX trong SSAS, cho phép hệ</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thống tự động tính toán trong quá trình truy vấn</a:t>
            </a:r>
            <a:endParaRPr sz="3600">
              <a:solidFill>
                <a:schemeClr val="dk1"/>
              </a:solidFill>
              <a:latin typeface="Times New Roman"/>
              <a:ea typeface="Times New Roman"/>
              <a:cs typeface="Times New Roman"/>
              <a:sym typeface="Times New Roman"/>
            </a:endParaRPr>
          </a:p>
        </p:txBody>
      </p:sp>
      <p:pic>
        <p:nvPicPr>
          <p:cNvPr id="355" name="Google Shape;355;g3d57c03b4b2_0_77"/>
          <p:cNvPicPr preferRelativeResize="0"/>
          <p:nvPr/>
        </p:nvPicPr>
        <p:blipFill>
          <a:blip r:embed="rId6">
            <a:alphaModFix/>
          </a:blip>
          <a:stretch>
            <a:fillRect/>
          </a:stretch>
        </p:blipFill>
        <p:spPr>
          <a:xfrm>
            <a:off x="1827125" y="1517088"/>
            <a:ext cx="14633725" cy="4988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d57c03b4b2_0_97"/>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g3d57c03b4b2_0_97"/>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g3d57c03b4b2_0_97"/>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g3d57c03b4b2_0_97"/>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g3d57c03b4b2_0_97"/>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g3d57c03b4b2_0_97"/>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Lựa chọn loại OLAP</a:t>
            </a:r>
            <a:endParaRPr sz="7200">
              <a:solidFill>
                <a:schemeClr val="dk1"/>
              </a:solidFill>
            </a:endParaRPr>
          </a:p>
        </p:txBody>
      </p:sp>
      <p:sp>
        <p:nvSpPr>
          <p:cNvPr id="370" name="Google Shape;370;g3d57c03b4b2_0_97"/>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g3d57c03b4b2_0_97"/>
          <p:cNvSpPr txBox="1"/>
          <p:nvPr/>
        </p:nvSpPr>
        <p:spPr>
          <a:xfrm>
            <a:off x="11094800" y="1385950"/>
            <a:ext cx="6408300" cy="6741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Hệ thống sử dụng mô hình MOLAP (Multidimensional OLAP) cho OLAP Cube</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Việc lựa chọn MOLAP mang lại các lợi ích:</a:t>
            </a:r>
            <a:endParaRPr sz="3600">
              <a:solidFill>
                <a:schemeClr val="dk1"/>
              </a:solidFill>
              <a:latin typeface="Times New Roman"/>
              <a:ea typeface="Times New Roman"/>
              <a:cs typeface="Times New Roman"/>
              <a:sym typeface="Times New Roman"/>
            </a:endParaRPr>
          </a:p>
          <a:p>
            <a:pPr indent="0" lvl="0" marL="45720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Hiệu năng truy vấn cao nhờ dữ liệu đã được tổng hợp trước.</a:t>
            </a:r>
            <a:endParaRPr sz="3600">
              <a:solidFill>
                <a:schemeClr val="dk1"/>
              </a:solidFill>
              <a:latin typeface="Times New Roman"/>
              <a:ea typeface="Times New Roman"/>
              <a:cs typeface="Times New Roman"/>
              <a:sym typeface="Times New Roman"/>
            </a:endParaRPr>
          </a:p>
          <a:p>
            <a:pPr indent="0" lvl="0" marL="45720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Phù hợp với nhu cầu phân tích báo cáo và dashboard BI.</a:t>
            </a:r>
            <a:endParaRPr sz="3600">
              <a:solidFill>
                <a:schemeClr val="dk1"/>
              </a:solidFill>
              <a:latin typeface="Times New Roman"/>
              <a:ea typeface="Times New Roman"/>
              <a:cs typeface="Times New Roman"/>
              <a:sym typeface="Times New Roman"/>
            </a:endParaRPr>
          </a:p>
          <a:p>
            <a:pPr indent="0" lvl="0" marL="457200" rtl="0" algn="l">
              <a:spcBef>
                <a:spcPts val="0"/>
              </a:spcBef>
              <a:spcAft>
                <a:spcPts val="0"/>
              </a:spcAft>
              <a:buSzPts val="1100"/>
              <a:buNone/>
            </a:pPr>
            <a:r>
              <a:rPr lang="en-US" sz="3600">
                <a:solidFill>
                  <a:schemeClr val="dk1"/>
                </a:solidFill>
                <a:latin typeface="Times New Roman"/>
                <a:ea typeface="Times New Roman"/>
                <a:cs typeface="Times New Roman"/>
                <a:sym typeface="Times New Roman"/>
              </a:rPr>
              <a:t>Hỗ trợ hiệu quả các thao tác drill-down và roll-up.</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sz="3600">
              <a:solidFill>
                <a:schemeClr val="dk1"/>
              </a:solidFill>
              <a:latin typeface="Times New Roman"/>
              <a:ea typeface="Times New Roman"/>
              <a:cs typeface="Times New Roman"/>
              <a:sym typeface="Times New Roman"/>
            </a:endParaRPr>
          </a:p>
        </p:txBody>
      </p:sp>
      <p:pic>
        <p:nvPicPr>
          <p:cNvPr id="372" name="Google Shape;372;g3d57c03b4b2_0_97"/>
          <p:cNvPicPr preferRelativeResize="0"/>
          <p:nvPr/>
        </p:nvPicPr>
        <p:blipFill>
          <a:blip r:embed="rId6">
            <a:alphaModFix/>
          </a:blip>
          <a:stretch>
            <a:fillRect/>
          </a:stretch>
        </p:blipFill>
        <p:spPr>
          <a:xfrm>
            <a:off x="687950" y="1385950"/>
            <a:ext cx="10107050" cy="6013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d57c03b4b2_0_116"/>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g3d57c03b4b2_0_116"/>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g3d57c03b4b2_0_116"/>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g3d57c03b4b2_0_116"/>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g3d57c03b4b2_0_116"/>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g3d57c03b4b2_0_116"/>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g3d57c03b4b2_0_116"/>
          <p:cNvSpPr txBox="1"/>
          <p:nvPr/>
        </p:nvSpPr>
        <p:spPr>
          <a:xfrm>
            <a:off x="3698848" y="2585120"/>
            <a:ext cx="10890300" cy="7141500"/>
          </a:xfrm>
          <a:prstGeom prst="rect">
            <a:avLst/>
          </a:prstGeom>
          <a:noFill/>
          <a:ln>
            <a:noFill/>
          </a:ln>
        </p:spPr>
        <p:txBody>
          <a:bodyPr anchorCtr="0" anchor="t" bIns="0" lIns="0" spcFirstLastPara="1" rIns="0" wrap="square" tIns="0">
            <a:spAutoFit/>
          </a:bodyPr>
          <a:lstStyle/>
          <a:p>
            <a:pPr indent="0" lvl="0" marL="0" marR="0" rtl="0" algn="ctr">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PHẦN </a:t>
            </a:r>
            <a:r>
              <a:rPr lang="en-US" sz="7200">
                <a:solidFill>
                  <a:schemeClr val="dk1"/>
                </a:solidFill>
                <a:latin typeface="Times New Roman"/>
                <a:ea typeface="Times New Roman"/>
                <a:cs typeface="Times New Roman"/>
                <a:sym typeface="Times New Roman"/>
              </a:rPr>
              <a:t>5 - DASHBOARD VÀ TRỰC QUAN HÓA DỮ LIỆU (BI)</a:t>
            </a:r>
            <a:endParaRPr sz="7200">
              <a:solidFill>
                <a:schemeClr val="dk1"/>
              </a:solidFill>
              <a:latin typeface="Times New Roman"/>
              <a:ea typeface="Times New Roman"/>
              <a:cs typeface="Times New Roman"/>
              <a:sym typeface="Times New Roman"/>
            </a:endParaRPr>
          </a:p>
          <a:p>
            <a:pPr indent="0" lvl="0" marL="0" marR="0" rtl="0" algn="ctr">
              <a:lnSpc>
                <a:spcPct val="136097"/>
              </a:lnSpc>
              <a:spcBef>
                <a:spcPts val="0"/>
              </a:spcBef>
              <a:spcAft>
                <a:spcPts val="0"/>
              </a:spcAft>
              <a:buNone/>
            </a:pPr>
            <a:r>
              <a:t/>
            </a:r>
            <a:endParaRPr sz="7200">
              <a:solidFill>
                <a:schemeClr val="dk1"/>
              </a:solidFill>
              <a:latin typeface="Times New Roman"/>
              <a:ea typeface="Times New Roman"/>
              <a:cs typeface="Times New Roman"/>
              <a:sym typeface="Times New Roman"/>
            </a:endParaRPr>
          </a:p>
          <a:p>
            <a:pPr indent="0" lvl="0" marL="0" marR="0" rtl="0" algn="ctr">
              <a:lnSpc>
                <a:spcPct val="136097"/>
              </a:lnSpc>
              <a:spcBef>
                <a:spcPts val="0"/>
              </a:spcBef>
              <a:spcAft>
                <a:spcPts val="0"/>
              </a:spcAft>
              <a:buNone/>
            </a:pPr>
            <a:r>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d57c03b4b2_0_128"/>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g3d57c03b4b2_0_128"/>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g3d57c03b4b2_0_128"/>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g3d57c03b4b2_0_128"/>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g3d57c03b4b2_0_128"/>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g3d57c03b4b2_0_128"/>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Tổng quan kinh doanh (Executive Overview)</a:t>
            </a:r>
            <a:endParaRPr sz="7200">
              <a:solidFill>
                <a:schemeClr val="dk1"/>
              </a:solidFill>
            </a:endParaRPr>
          </a:p>
        </p:txBody>
      </p:sp>
      <p:sp>
        <p:nvSpPr>
          <p:cNvPr id="399" name="Google Shape;399;g3d57c03b4b2_0_128"/>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g3d57c03b4b2_0_128"/>
          <p:cNvSpPr txBox="1"/>
          <p:nvPr/>
        </p:nvSpPr>
        <p:spPr>
          <a:xfrm>
            <a:off x="13447700" y="3435000"/>
            <a:ext cx="4575600" cy="3417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3600">
                <a:solidFill>
                  <a:schemeClr val="dk1"/>
                </a:solidFill>
                <a:latin typeface="Times New Roman"/>
                <a:ea typeface="Times New Roman"/>
                <a:cs typeface="Times New Roman"/>
                <a:sym typeface="Times New Roman"/>
              </a:rPr>
              <a:t>Dashboard tổng quan được thiết kế dành cho cấp quản lý nhằm theo dõi nhanh tình hình kinh doanh.</a:t>
            </a:r>
            <a:endParaRPr sz="12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3600">
              <a:solidFill>
                <a:schemeClr val="dk1"/>
              </a:solidFill>
              <a:latin typeface="Times New Roman"/>
              <a:ea typeface="Times New Roman"/>
              <a:cs typeface="Times New Roman"/>
              <a:sym typeface="Times New Roman"/>
            </a:endParaRPr>
          </a:p>
        </p:txBody>
      </p:sp>
      <p:pic>
        <p:nvPicPr>
          <p:cNvPr id="401" name="Google Shape;401;g3d57c03b4b2_0_128"/>
          <p:cNvPicPr preferRelativeResize="0"/>
          <p:nvPr/>
        </p:nvPicPr>
        <p:blipFill>
          <a:blip r:embed="rId6">
            <a:alphaModFix/>
          </a:blip>
          <a:stretch>
            <a:fillRect/>
          </a:stretch>
        </p:blipFill>
        <p:spPr>
          <a:xfrm>
            <a:off x="687950" y="1823100"/>
            <a:ext cx="12750700" cy="7215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d57c03b4b2_0_154"/>
          <p:cNvSpPr/>
          <p:nvPr/>
        </p:nvSpPr>
        <p:spPr>
          <a:xfrm rot="10800000">
            <a:off x="12205770" y="-357188"/>
            <a:ext cx="7059478" cy="4114800"/>
          </a:xfrm>
          <a:custGeom>
            <a:rect b="b" l="l" r="r" t="t"/>
            <a:pathLst>
              <a:path extrusionOk="0" h="4114800" w="7059478">
                <a:moveTo>
                  <a:pt x="7059478" y="4114800"/>
                </a:moveTo>
                <a:lnTo>
                  <a:pt x="0" y="4114800"/>
                </a:lnTo>
                <a:lnTo>
                  <a:pt x="0" y="0"/>
                </a:lnTo>
                <a:lnTo>
                  <a:pt x="7059478" y="0"/>
                </a:lnTo>
                <a:lnTo>
                  <a:pt x="7059478"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g3d57c03b4b2_0_154"/>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g3d57c03b4b2_0_154"/>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g3d57c03b4b2_0_154"/>
          <p:cNvSpPr/>
          <p:nvPr/>
        </p:nvSpPr>
        <p:spPr>
          <a:xfrm rot="7488241">
            <a:off x="-98887" y="7732732"/>
            <a:ext cx="3066881" cy="5796512"/>
          </a:xfrm>
          <a:custGeom>
            <a:rect b="b" l="l" r="r" t="t"/>
            <a:pathLst>
              <a:path extrusionOk="0" h="5804353" w="3071030">
                <a:moveTo>
                  <a:pt x="0" y="0"/>
                </a:moveTo>
                <a:lnTo>
                  <a:pt x="3071031" y="0"/>
                </a:lnTo>
                <a:lnTo>
                  <a:pt x="3071031"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g3d57c03b4b2_0_154"/>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g3d57c03b4b2_0_154"/>
          <p:cNvSpPr txBox="1"/>
          <p:nvPr/>
        </p:nvSpPr>
        <p:spPr>
          <a:xfrm>
            <a:off x="687945" y="277750"/>
            <a:ext cx="17600100" cy="1108200"/>
          </a:xfrm>
          <a:prstGeom prst="rect">
            <a:avLst/>
          </a:prstGeom>
          <a:noFill/>
          <a:ln>
            <a:noFill/>
          </a:ln>
        </p:spPr>
        <p:txBody>
          <a:bodyPr anchorCtr="0" anchor="t" bIns="0" lIns="0" spcFirstLastPara="1" rIns="0" wrap="square" tIns="0">
            <a:spAutoFit/>
          </a:bodyPr>
          <a:lstStyle/>
          <a:p>
            <a:pPr indent="0" lvl="0" marL="0" rtl="0" algn="l">
              <a:lnSpc>
                <a:spcPct val="136097"/>
              </a:lnSpc>
              <a:spcBef>
                <a:spcPts val="0"/>
              </a:spcBef>
              <a:spcAft>
                <a:spcPts val="0"/>
              </a:spcAft>
              <a:buNone/>
            </a:pPr>
            <a:r>
              <a:rPr lang="en-US" sz="7200">
                <a:solidFill>
                  <a:schemeClr val="dk1"/>
                </a:solidFill>
                <a:latin typeface="Times New Roman"/>
                <a:ea typeface="Times New Roman"/>
                <a:cs typeface="Times New Roman"/>
                <a:sym typeface="Times New Roman"/>
              </a:rPr>
              <a:t>Phân tích chi tiết (Operational Detail)</a:t>
            </a:r>
            <a:endParaRPr sz="7200">
              <a:solidFill>
                <a:schemeClr val="dk1"/>
              </a:solidFill>
            </a:endParaRPr>
          </a:p>
        </p:txBody>
      </p:sp>
      <p:sp>
        <p:nvSpPr>
          <p:cNvPr id="416" name="Google Shape;416;g3d57c03b4b2_0_154"/>
          <p:cNvSpPr/>
          <p:nvPr/>
        </p:nvSpPr>
        <p:spPr>
          <a:xfrm>
            <a:off x="-624614" y="6772863"/>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g3d57c03b4b2_0_154"/>
          <p:cNvSpPr txBox="1"/>
          <p:nvPr/>
        </p:nvSpPr>
        <p:spPr>
          <a:xfrm>
            <a:off x="13447700" y="3196975"/>
            <a:ext cx="4575600" cy="2862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3600">
                <a:solidFill>
                  <a:schemeClr val="dk1"/>
                </a:solidFill>
                <a:latin typeface="Times New Roman"/>
                <a:ea typeface="Times New Roman"/>
                <a:cs typeface="Times New Roman"/>
                <a:sym typeface="Times New Roman"/>
              </a:rPr>
              <a:t>Dashboard thứ hai tập trung vào phân tích chi tiết hành vi khách hàng và hiệu suất sản phẩm.</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sz="3600">
              <a:solidFill>
                <a:schemeClr val="dk1"/>
              </a:solidFill>
              <a:latin typeface="Times New Roman"/>
              <a:ea typeface="Times New Roman"/>
              <a:cs typeface="Times New Roman"/>
              <a:sym typeface="Times New Roman"/>
            </a:endParaRPr>
          </a:p>
        </p:txBody>
      </p:sp>
      <p:pic>
        <p:nvPicPr>
          <p:cNvPr id="418" name="Google Shape;418;g3d57c03b4b2_0_154"/>
          <p:cNvPicPr preferRelativeResize="0"/>
          <p:nvPr/>
        </p:nvPicPr>
        <p:blipFill>
          <a:blip r:embed="rId6">
            <a:alphaModFix/>
          </a:blip>
          <a:stretch>
            <a:fillRect/>
          </a:stretch>
        </p:blipFill>
        <p:spPr>
          <a:xfrm>
            <a:off x="687950" y="1467850"/>
            <a:ext cx="12759749" cy="74014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22" name="Shape 422"/>
        <p:cNvGrpSpPr/>
        <p:nvPr/>
      </p:nvGrpSpPr>
      <p:grpSpPr>
        <a:xfrm>
          <a:off x="0" y="0"/>
          <a:ext cx="0" cy="0"/>
          <a:chOff x="0" y="0"/>
          <a:chExt cx="0" cy="0"/>
        </a:xfrm>
      </p:grpSpPr>
      <p:sp>
        <p:nvSpPr>
          <p:cNvPr id="423" name="Google Shape;423;p14"/>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4"/>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4"/>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6" name="Google Shape;426;p14"/>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4"/>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4"/>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4"/>
          <p:cNvSpPr txBox="1"/>
          <p:nvPr/>
        </p:nvSpPr>
        <p:spPr>
          <a:xfrm>
            <a:off x="3022813" y="1479850"/>
            <a:ext cx="12141000" cy="1077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lang="en-US" sz="6999">
                <a:solidFill>
                  <a:srgbClr val="0C3571"/>
                </a:solidFill>
                <a:latin typeface="Times New Roman"/>
                <a:ea typeface="Times New Roman"/>
                <a:cs typeface="Times New Roman"/>
                <a:sym typeface="Times New Roman"/>
              </a:rPr>
              <a:t>Kết luận &amp; Hướng phát triển</a:t>
            </a:r>
            <a:endParaRPr>
              <a:latin typeface="Times New Roman"/>
              <a:ea typeface="Times New Roman"/>
              <a:cs typeface="Times New Roman"/>
              <a:sym typeface="Times New Roman"/>
            </a:endParaRPr>
          </a:p>
        </p:txBody>
      </p:sp>
      <p:sp>
        <p:nvSpPr>
          <p:cNvPr id="430" name="Google Shape;430;p14"/>
          <p:cNvSpPr txBox="1"/>
          <p:nvPr/>
        </p:nvSpPr>
        <p:spPr>
          <a:xfrm>
            <a:off x="2053675" y="3112125"/>
            <a:ext cx="14079300" cy="4949400"/>
          </a:xfrm>
          <a:prstGeom prst="rect">
            <a:avLst/>
          </a:prstGeom>
          <a:noFill/>
          <a:ln>
            <a:noFill/>
          </a:ln>
        </p:spPr>
        <p:txBody>
          <a:bodyPr anchorCtr="0" anchor="t" bIns="0" lIns="0" spcFirstLastPara="1" rIns="0" wrap="square" tIns="0">
            <a:spAutoFit/>
          </a:bodyPr>
          <a:lstStyle/>
          <a:p>
            <a:pPr indent="-457200" lvl="1" marL="914400" rtl="0" algn="just">
              <a:lnSpc>
                <a:spcPct val="132194"/>
              </a:lnSpc>
              <a:spcBef>
                <a:spcPts val="0"/>
              </a:spcBef>
              <a:spcAft>
                <a:spcPts val="0"/>
              </a:spcAft>
              <a:buClr>
                <a:schemeClr val="dk1"/>
              </a:buClr>
              <a:buSzPts val="3600"/>
              <a:buChar char="•"/>
            </a:pPr>
            <a:r>
              <a:rPr b="1" lang="en-US" sz="3600">
                <a:solidFill>
                  <a:schemeClr val="dk1"/>
                </a:solidFill>
                <a:latin typeface="Times New Roman"/>
                <a:ea typeface="Times New Roman"/>
                <a:cs typeface="Times New Roman"/>
                <a:sym typeface="Times New Roman"/>
              </a:rPr>
              <a:t>Kết quả:</a:t>
            </a:r>
            <a:r>
              <a:rPr lang="en-US" sz="3600">
                <a:solidFill>
                  <a:schemeClr val="dk1"/>
                </a:solidFill>
                <a:latin typeface="Times New Roman"/>
                <a:ea typeface="Times New Roman"/>
                <a:cs typeface="Times New Roman"/>
                <a:sym typeface="Times New Roman"/>
              </a:rPr>
              <a:t> Hệ thống hỗ trợ ra quyết định kinh doanh, cung cấp cái nhìn toàn diện.</a:t>
            </a:r>
            <a:endParaRPr sz="3600">
              <a:solidFill>
                <a:schemeClr val="dk1"/>
              </a:solidFill>
              <a:latin typeface="Times New Roman"/>
              <a:ea typeface="Times New Roman"/>
              <a:cs typeface="Times New Roman"/>
              <a:sym typeface="Times New Roman"/>
            </a:endParaRPr>
          </a:p>
          <a:p>
            <a:pPr indent="-457200" lvl="1" marL="914400" rtl="0" algn="just">
              <a:lnSpc>
                <a:spcPct val="132194"/>
              </a:lnSpc>
              <a:spcBef>
                <a:spcPts val="0"/>
              </a:spcBef>
              <a:spcAft>
                <a:spcPts val="0"/>
              </a:spcAft>
              <a:buClr>
                <a:schemeClr val="dk1"/>
              </a:buClr>
              <a:buSzPts val="3600"/>
              <a:buChar char="•"/>
            </a:pPr>
            <a:r>
              <a:rPr b="1" lang="en-US" sz="3600">
                <a:solidFill>
                  <a:schemeClr val="dk1"/>
                </a:solidFill>
                <a:latin typeface="Times New Roman"/>
                <a:ea typeface="Times New Roman"/>
                <a:cs typeface="Times New Roman"/>
                <a:sym typeface="Times New Roman"/>
              </a:rPr>
              <a:t>Hạn chế:</a:t>
            </a:r>
            <a:r>
              <a:rPr lang="en-US" sz="3600">
                <a:solidFill>
                  <a:schemeClr val="dk1"/>
                </a:solidFill>
                <a:latin typeface="Times New Roman"/>
                <a:ea typeface="Times New Roman"/>
                <a:cs typeface="Times New Roman"/>
                <a:sym typeface="Times New Roman"/>
              </a:rPr>
              <a:t> Hiệu năng có thể giảm khi dữ liệu cực lớn, chưa có chức năng dự báo.</a:t>
            </a:r>
            <a:endParaRPr sz="3600">
              <a:solidFill>
                <a:schemeClr val="dk1"/>
              </a:solidFill>
              <a:latin typeface="Times New Roman"/>
              <a:ea typeface="Times New Roman"/>
              <a:cs typeface="Times New Roman"/>
              <a:sym typeface="Times New Roman"/>
            </a:endParaRPr>
          </a:p>
          <a:p>
            <a:pPr indent="-457200" lvl="1" marL="914400" rtl="0" algn="just">
              <a:lnSpc>
                <a:spcPct val="132194"/>
              </a:lnSpc>
              <a:spcBef>
                <a:spcPts val="0"/>
              </a:spcBef>
              <a:spcAft>
                <a:spcPts val="0"/>
              </a:spcAft>
              <a:buClr>
                <a:schemeClr val="dk1"/>
              </a:buClr>
              <a:buSzPts val="3600"/>
              <a:buChar char="•"/>
            </a:pPr>
            <a:r>
              <a:rPr b="1" lang="en-US" sz="3600">
                <a:solidFill>
                  <a:schemeClr val="dk1"/>
                </a:solidFill>
                <a:latin typeface="Times New Roman"/>
                <a:ea typeface="Times New Roman"/>
                <a:cs typeface="Times New Roman"/>
                <a:sym typeface="Times New Roman"/>
              </a:rPr>
              <a:t>Hướng phát triển:</a:t>
            </a:r>
            <a:r>
              <a:rPr lang="en-US" sz="3600">
                <a:solidFill>
                  <a:schemeClr val="dk1"/>
                </a:solidFill>
                <a:latin typeface="Times New Roman"/>
                <a:ea typeface="Times New Roman"/>
                <a:cs typeface="Times New Roman"/>
                <a:sym typeface="Times New Roman"/>
              </a:rPr>
              <a:t> Tích hợp Machine Learning để dự báo nhu cầu kho và phân loại khách hàng tiềm năng.</a:t>
            </a:r>
            <a:endParaRPr sz="3600">
              <a:solidFill>
                <a:schemeClr val="dk1"/>
              </a:solidFill>
              <a:latin typeface="Times New Roman"/>
              <a:ea typeface="Times New Roman"/>
              <a:cs typeface="Times New Roman"/>
              <a:sym typeface="Times New Roman"/>
            </a:endParaRPr>
          </a:p>
          <a:p>
            <a:pPr indent="0" lvl="0" marL="0" marR="0" rtl="0" algn="just">
              <a:lnSpc>
                <a:spcPct val="132194"/>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34" name="Shape 434"/>
        <p:cNvGrpSpPr/>
        <p:nvPr/>
      </p:nvGrpSpPr>
      <p:grpSpPr>
        <a:xfrm>
          <a:off x="0" y="0"/>
          <a:ext cx="0" cy="0"/>
          <a:chOff x="0" y="0"/>
          <a:chExt cx="0" cy="0"/>
        </a:xfrm>
      </p:grpSpPr>
      <p:sp>
        <p:nvSpPr>
          <p:cNvPr id="435" name="Google Shape;435;p15"/>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5"/>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5"/>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5"/>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5"/>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5"/>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5"/>
          <p:cNvSpPr txBox="1"/>
          <p:nvPr/>
        </p:nvSpPr>
        <p:spPr>
          <a:xfrm>
            <a:off x="2634754" y="3609044"/>
            <a:ext cx="13018500" cy="19227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12492">
                <a:solidFill>
                  <a:srgbClr val="0C3571"/>
                </a:solidFill>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